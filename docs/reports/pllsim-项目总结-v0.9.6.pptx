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pllsim 是一套 PLL 系统级/行为级仿真库，用于架构选型与指标预算阶段。本次汇报覆盖它做什么、凭什么可信、以及一次完备性审计查出了什么。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两个域互为校验，是这个工具区别于一般脚本的地方：任何一处物理建模错误，都会表现为两个域对不上。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三层导出的意义：系统级结论可以直接带进 Cadence 的验证流程，而不是停在 Python 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这一页回答管理层最关心的问题：凭什么相信这个工具的数字。答案是对着公开发表的五个通道逐条比过，且差异都能解释。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第二类最危险：结果看起来完全正常。这类问题在没有交叉验证的工具里可以存在很多年。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这一页的价值不在这一个公式，而在方法：任何无法被独立检验的模型断言，都应当视为待验证而不是已验证。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单源主导测试是这次审计最重要的方法论产出：比总量的测试看起来覆盖率很高，实际上盲区正好在最要命的地方。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下一步的核心是拿实测硅数据把工具从「架构一致」推到「工艺一致」。CI 成本那一项需要管理层给一个取舍方向。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463040"/>
            <a:ext cx="5120640" cy="5120640"/>
          </a:xfrm>
          <a:prstGeom prst="ellipse">
            <a:avLst/>
          </a:prstGeom>
          <a:solidFill>
            <a:srgbClr val="24405A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023360"/>
            <a:ext cx="2377440" cy="2377440"/>
          </a:xfrm>
          <a:prstGeom prst="ellipse">
            <a:avLst/>
          </a:prstGeom>
          <a:solidFill>
            <a:srgbClr val="2E7D8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745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pllsim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640080" y="2880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锁相环系统级仿真平台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3611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3CE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项目总结汇报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4315968"/>
            <a:ext cx="2834640" cy="18288"/>
          </a:xfrm>
          <a:prstGeom prst="rect">
            <a:avLst/>
          </a:prstGeom>
          <a:solidFill>
            <a:srgbClr val="2E7D8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4526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3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v0.9.6    ·    6 种架构    ·    1027 项自动化测试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解决什么问题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架构选型阶段需要的是小时级的可比较答案，而不是数天的精确答案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024128"/>
          </a:xfrm>
          <a:prstGeom prst="roundRect">
            <a:avLst>
              <a:gd name="adj" fmla="val 5357"/>
            </a:avLst>
          </a:prstGeom>
          <a:solidFill>
            <a:srgbClr val="E8EDF2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130552"/>
            <a:ext cx="420624" cy="420624"/>
          </a:xfrm>
          <a:prstGeom prst="ellipse">
            <a:avLst/>
          </a:prstGeom>
          <a:solidFill>
            <a:srgbClr val="B8C4CE"/>
          </a:solidFill>
          <a:ln/>
        </p:spPr>
      </p:sp>
      <p:sp>
        <p:nvSpPr>
          <p:cNvPr id="6" name="Text 4"/>
          <p:cNvSpPr/>
          <p:nvPr/>
        </p:nvSpPr>
        <p:spPr>
          <a:xfrm>
            <a:off x="1554480" y="197510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晶体管级仿真（Cadence）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937760" y="1984248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一次瞬态跑数小时到数天，且必须先有电路。做完才知道架构选错了。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063240"/>
            <a:ext cx="10881360" cy="1024128"/>
          </a:xfrm>
          <a:prstGeom prst="roundRect">
            <a:avLst>
              <a:gd name="adj" fmla="val 5357"/>
            </a:avLst>
          </a:prstGeom>
          <a:solidFill>
            <a:srgbClr val="E8EDF2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32688" y="3364992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1554480" y="320954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pllsim 频域线性模型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3218688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秒级给出相位噪声分解、环路稳定性、抖动预算 —— 每一条噪声路径单独列出。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297680"/>
            <a:ext cx="10881360" cy="1024128"/>
          </a:xfrm>
          <a:prstGeom prst="roundRect">
            <a:avLst>
              <a:gd name="adj" fmla="val 5357"/>
            </a:avLst>
          </a:prstGeom>
          <a:solidFill>
            <a:srgbClr val="E8EDF2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32688" y="4599432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1554480" y="444398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pllsim 时域行为模型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37760" y="4453128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秒到分钟级跑完锁定过程、杂散、校准收敛、跳频建立、蒙特卡洛良率。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57150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2E7D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关键设计：同一份配置，两个域各自独立算，结果必须互相吻合 —— 不吻合就是有一边错了。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能力全景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种架构 · 18 个预设配置 · 22 个可运行示例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514600" cy="1051560"/>
          </a:xfrm>
          <a:prstGeom prst="roundRect">
            <a:avLst>
              <a:gd name="adj" fmla="val 5217"/>
            </a:avLst>
          </a:prstGeom>
          <a:solidFill>
            <a:srgbClr val="152238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78308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3CE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29000" y="1691640"/>
            <a:ext cx="2514600" cy="1051560"/>
          </a:xfrm>
          <a:prstGeom prst="roundRect">
            <a:avLst>
              <a:gd name="adj" fmla="val 5217"/>
            </a:avLst>
          </a:prstGeom>
          <a:solidFill>
            <a:srgbClr val="152238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29000" y="178308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42900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3CE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预设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2514600" cy="1051560"/>
          </a:xfrm>
          <a:prstGeom prst="roundRect">
            <a:avLst>
              <a:gd name="adj" fmla="val 5217"/>
            </a:avLst>
          </a:prstGeom>
          <a:solidFill>
            <a:srgbClr val="152238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178308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21792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3CE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06840" y="1691640"/>
            <a:ext cx="2514600" cy="1051560"/>
          </a:xfrm>
          <a:prstGeom prst="roundRect">
            <a:avLst>
              <a:gd name="adj" fmla="val 5217"/>
            </a:avLst>
          </a:prstGeom>
          <a:solidFill>
            <a:srgbClr val="152238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06840" y="178308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1027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0068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3CE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8912" y="3127248"/>
            <a:ext cx="3657600" cy="2331720"/>
          </a:xfrm>
          <a:prstGeom prst="roundRect">
            <a:avLst>
              <a:gd name="adj" fmla="val 2353"/>
            </a:avLst>
          </a:prstGeom>
          <a:solidFill>
            <a:srgbClr val="E8EDF2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364992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364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70432" y="337413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架构模型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0080" y="3931920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电荷泵 PLL（整数N / 小数N）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子采样 PLL、采样 PLL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全数字 PLL（TDC 与 bang-bang 两种）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注入锁定倍频器、多倍频 DLL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233672" y="3127248"/>
            <a:ext cx="3657600" cy="2331720"/>
          </a:xfrm>
          <a:prstGeom prst="roundRect">
            <a:avLst>
              <a:gd name="adj" fmla="val 2353"/>
            </a:avLst>
          </a:prstGeom>
          <a:solidFill>
            <a:srgbClr val="E8EDF2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434840" y="3364992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3" name="Text 21"/>
          <p:cNvSpPr/>
          <p:nvPr/>
        </p:nvSpPr>
        <p:spPr>
          <a:xfrm>
            <a:off x="4434840" y="3364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965192" y="337413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分析能力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4434840" y="3931920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环路综合与带宽扫描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架构自动选型与排序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蒙特卡洛良率、PVT 工艺角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跳频建立、温漂跟踪、两点调制 EVM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028432" y="3127248"/>
            <a:ext cx="3657600" cy="2331720"/>
          </a:xfrm>
          <a:prstGeom prst="roundRect">
            <a:avLst>
              <a:gd name="adj" fmla="val 2353"/>
            </a:avLst>
          </a:prstGeom>
          <a:solidFill>
            <a:srgbClr val="E8EDF2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229600" y="3364992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0" y="3364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759952" y="337413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交付物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8229600" y="3931920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 Verilog 导出：RTL / RNM / 电气 AMS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RTL 在导出时用 iverilog 位真验证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 GUI：桌面 + 浏览器，中英双语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Windows 免安装 exe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2E7D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三层导出的意义：系统级的结论可以直接带进 Cadence 的验证流程，而不是停在 Python 里。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凭什么可信：七篇 JSSC 论文对标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八个通道，六种架构各有锚点，逐条比较发表值 / 线性模型 / 时域模型的积分抖动（fs）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881360" cy="914400"/>
        </p:xfrm>
        <a:graphic>
          <a:graphicData uri="http://schemas.openxmlformats.org/drawingml/2006/table">
            <a:tbl>
              <a:tblPr/>
              <a:tblGrid>
                <a:gridCol w="5760720"/>
                <a:gridCol w="1691640"/>
                <a:gridCol w="1691640"/>
                <a:gridCol w="17373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论文与通道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发表值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线性模型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时域模型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Gao'09  子采样 PLL  2.21 GHz  整数N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138.8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139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Dartizio'23  DTC+BB 数字 PLL  9.25 GHz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77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59.3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76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Markulic'16  子采样 PLL  10.24 GHz  整数N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176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164.7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154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Markulic'16  子采样 PLL  10.24 GHz  小数N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198 （最差）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199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Wu'19  采样 PLL  6.25 GHz  小数N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80.9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78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 Dalt'03  电荷泵 PLL  2.488 GHz  整数N（锚点 L(1M) −115 dBc/Hz）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860 (band n/a)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257.5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244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Helal'09  注入锁定倍频器  3.2 GHz  ×64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83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Elshazly'13  数字 MDLL  1.5 GHz  ×4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541.4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415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407408"/>
            <a:ext cx="5349240" cy="1645920"/>
          </a:xfrm>
          <a:prstGeom prst="roundRect">
            <a:avLst>
              <a:gd name="adj" fmla="val 3333"/>
            </a:avLst>
          </a:prstGeom>
          <a:solidFill>
            <a:srgbClr val="E8EDF2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14400" y="4626864"/>
            <a:ext cx="384048" cy="384048"/>
          </a:xfrm>
          <a:prstGeom prst="ellipse">
            <a:avLst/>
          </a:prstGeom>
          <a:solidFill>
            <a:srgbClr val="2E7D8E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4626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444752" y="4636008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时域模型全部落在发表值附近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5102352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未公开的电路参数一律用标注过的工艺合理假设。验证的是架构一致性，不是逐点复现某颗芯片。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309360" y="4407408"/>
            <a:ext cx="5212080" cy="1645920"/>
          </a:xfrm>
          <a:prstGeom prst="roundRect">
            <a:avLst>
              <a:gd name="adj" fmla="val 3333"/>
            </a:avLst>
          </a:prstGeom>
          <a:solidFill>
            <a:srgbClr val="E8EDF2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83680" y="4626864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9"/>
          <p:cNvSpPr/>
          <p:nvPr/>
        </p:nvSpPr>
        <p:spPr>
          <a:xfrm>
            <a:off x="6583680" y="4626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114032" y="463600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Dartizio'23 线性模型偏低是已知的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583680" y="5102352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线性化会低估 bang-bang 环路 —— 时域模型给出 77 fs，与发表值一致。差异有物理解释，不是拟合失败。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完备性审计：查出了什么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3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把工程对照它自己的说法系统审计一遍，问题分三类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1234440"/>
          </a:xfrm>
          <a:prstGeom prst="roundRect">
            <a:avLst>
              <a:gd name="adj" fmla="val 4444"/>
            </a:avLst>
          </a:prstGeom>
          <a:solidFill>
            <a:srgbClr val="24405A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9456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54480" y="200253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静默给出错误数字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532120" y="2002536"/>
            <a:ext cx="5623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E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参考杂散公式错 38 dB；采样器噪声低 3 dB。使用者拿到一份完全正常的报告，无从察觉。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10881360" cy="1234440"/>
          </a:xfrm>
          <a:prstGeom prst="roundRect">
            <a:avLst>
              <a:gd name="adj" fmla="val 4444"/>
            </a:avLst>
          </a:prstGeom>
          <a:solidFill>
            <a:srgbClr val="24405A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60120" y="361188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54480" y="341985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接受了却不起作用的输入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532120" y="3419856"/>
            <a:ext cx="5623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E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bang-bang 数字 PLL 的两点调制被静默丢弃 —— 返回一份看起来正常、里面却没有任何调制的结果。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617720"/>
            <a:ext cx="10881360" cy="1234440"/>
          </a:xfrm>
          <a:prstGeom prst="roundRect">
            <a:avLst>
              <a:gd name="adj" fmla="val 4444"/>
            </a:avLst>
          </a:prstGeom>
          <a:solidFill>
            <a:srgbClr val="24405A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60120" y="502920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5029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54480" y="483717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检查本身在空转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532120" y="4837176"/>
            <a:ext cx="5623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E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导出的交叉引用检查在电气顶层上匹配到零个实例，所有检查都在对空气通过。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6035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2E7D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三类都已修复并配了会失败的回归测试 —— 每一处都先确认它在旧代码上确实失败。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一个值得展开的发现：参考杂散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上一版修掉一个 6 dB 错误后，留下一句「时域无法检验这一条」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3703320"/>
          </a:xfrm>
          <a:prstGeom prst="roundRect">
            <a:avLst>
              <a:gd name="adj" fmla="val 1481"/>
            </a:avLst>
          </a:prstGeom>
          <a:solidFill>
            <a:srgbClr val="E8EDF2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938528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接受那句话，才是真正的错误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2450592"/>
            <a:ext cx="4617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时域记录每参考周期只取一个点，fref 处的杂散正好落在记录自身的采样率上、混叠到直流。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于是解析式可以预测一个「没有任何东西能反驳」的数字。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增加周期内细采样后，立刻发现式子仍然错 38 dB。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452628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测不到的约定，就是会漂的约定。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0" y="1737360"/>
            <a:ext cx="5303520" cy="3703320"/>
          </a:xfrm>
          <a:prstGeom prst="roundRect">
            <a:avLst>
              <a:gd name="adj" fmla="val 1481"/>
            </a:avLst>
          </a:prstGeom>
          <a:solidFill>
            <a:srgbClr val="E8EDF2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37960" y="193852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物理上是怎么回事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537960" y="2487168"/>
            <a:ext cx="310896" cy="310896"/>
          </a:xfrm>
          <a:prstGeom prst="ellipse">
            <a:avLst/>
          </a:prstGeom>
          <a:solidFill>
            <a:srgbClr val="2E7D8E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95160" y="245973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锁定时，二型环路已把每周期净电荷拉到零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537960" y="3054096"/>
            <a:ext cx="310896" cy="310896"/>
          </a:xfrm>
          <a:prstGeom prst="ellipse">
            <a:avLst/>
          </a:prstGeom>
          <a:solidFill>
            <a:srgbClr val="2E7D8E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30540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995160" y="3026664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剩下的是一对反号脉冲（偶极），不是单个冲激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537960" y="3621024"/>
            <a:ext cx="310896" cy="310896"/>
          </a:xfrm>
          <a:prstGeom prst="ellipse">
            <a:avLst/>
          </a:prstGeom>
          <a:solidFill>
            <a:srgbClr val="2E7D8E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36210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995160" y="3593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二者面积抵消，基波只靠时间间隔存活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537960" y="4187952"/>
            <a:ext cx="310896" cy="310896"/>
          </a:xfrm>
          <a:prstGeom prst="ellipse">
            <a:avLst/>
          </a:prstGeom>
          <a:solidFill>
            <a:srgbClr val="2E7D8E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4187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995160" y="41605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被压低 2·sin(π·fref·Δt) —— 本例正是 38 dB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537960" y="482803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修正后：解析与时域吻合到 0.01 dB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0080" y="57150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同一次审计还发现：子采样架构的参考杂散在物理上根本不存在 —— 这是该架构的真实优势，不是建模缺陷。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质量体系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1027 项自动化测试，每次代码提交在两个 Python 版本上全量运行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1645920"/>
          </a:xfrm>
          <a:prstGeom prst="roundRect">
            <a:avLst>
              <a:gd name="adj" fmla="val 3333"/>
            </a:avLst>
          </a:prstGeom>
          <a:solidFill>
            <a:srgbClr val="E8EDF2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05740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206654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跨域一致性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32688" y="253288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同一份配置，频域与时域各自独立算，结果必须吻合。任何物理建模错误都会表现为两边对不上。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257800" cy="1645920"/>
          </a:xfrm>
          <a:prstGeom prst="roundRect">
            <a:avLst>
              <a:gd name="adj" fmla="val 3333"/>
            </a:avLst>
          </a:prstGeom>
          <a:solidFill>
            <a:srgbClr val="E8EDF2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56248" y="205740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48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86600" y="206654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单源主导测试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556248" y="253288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把一条噪声路径抬到占预算 90% 以上再比较。比「总量」的测试容差宽到能藏住单项 3 dB 的错误 —— 三个物理 bug 就是这样活下来的。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657600"/>
            <a:ext cx="5257800" cy="1645920"/>
          </a:xfrm>
          <a:prstGeom prst="roundRect">
            <a:avLst>
              <a:gd name="adj" fmla="val 3333"/>
            </a:avLst>
          </a:prstGeom>
          <a:solidFill>
            <a:srgbClr val="E8EDF2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32688" y="393192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63040" y="394106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变异测试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32688" y="440740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故意植入缺陷，验证检查确实会失败。防止出现「只会说没问题」的检查。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3657600"/>
            <a:ext cx="5257800" cy="1645920"/>
          </a:xfrm>
          <a:prstGeom prst="roundRect">
            <a:avLst>
              <a:gd name="adj" fmla="val 3333"/>
            </a:avLst>
          </a:prstGeom>
          <a:solidFill>
            <a:srgbClr val="E8EDF2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56248" y="393192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1" name="Text 19"/>
          <p:cNvSpPr/>
          <p:nvPr/>
        </p:nvSpPr>
        <p:spPr>
          <a:xfrm>
            <a:off x="6556248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86600" y="394106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位真验证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556248" y="440740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导出的 RTL 在导出时就用 iverilog 跑向量比对，不是等到进 Cadence 才发现。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" y="5760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2E7D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个版本全部带发布说明：每一个变动的数字都写明「哪个数变了、为什么」，不悄悄改基准。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现状与下一步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3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v0.9.6 功能完整，可交付内部使用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建议投入方向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322576"/>
            <a:ext cx="347472" cy="34747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322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228600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用实测硅数据校准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143000" y="2670048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目前对标的是公开论文，不是我们自己的流片。有一颗片子的实测相噪，工具的可信度就从「架构一致」升到「工艺一致」。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694176"/>
            <a:ext cx="347472" cy="34747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6941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43000" y="365760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Verilog-AMS 导出的实机验证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143000" y="4041648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无免费仿真器可 elaborate，目前只做了文本级交叉引用检查。需要一次 Cadence 上的实跑。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5065776"/>
            <a:ext cx="347472" cy="34747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50657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43000" y="502920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Windows 打包路径复核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143000" y="5413248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打包脚本改动未在 Windows 上实测过。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92240" y="1783080"/>
            <a:ext cx="5029200" cy="2148840"/>
          </a:xfrm>
          <a:prstGeom prst="roundRect">
            <a:avLst>
              <a:gd name="adj" fmla="val 2553"/>
            </a:avLst>
          </a:prstGeom>
          <a:solidFill>
            <a:srgbClr val="24405A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12280" y="19933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需要决策的一项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812280" y="2450592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E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持续集成单次耗时已达 11 分钟，每次提交跑两个 Python 版本。私有仓库的构建分钟数是计量的。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812280" y="32004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3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可选：把耗时最长的 GUI 与导出测试改为仅在主干上运行 —— 但分支上的「按钮一按就崩」正是它们该抓的。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92240" y="4160520"/>
            <a:ext cx="5029200" cy="1828800"/>
          </a:xfrm>
          <a:prstGeom prst="roundRect">
            <a:avLst>
              <a:gd name="adj" fmla="val 3000"/>
            </a:avLst>
          </a:prstGeom>
          <a:solidFill>
            <a:srgbClr val="2E7D8E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812280" y="437083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一句话总结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12280" y="480060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这套工具最有价值的产出不是那些数字，而是一套让错误数字无处藏身的方法 —— 两个域互相校验，加上不让任何检查空转。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pllsim 项目总结</dc:title>
  <dc:subject>PptxGenJS Presentation</dc:subject>
  <dc:creator>pllsim</dc:creator>
  <cp:lastModifiedBy>pllsim</cp:lastModifiedBy>
  <cp:revision>1</cp:revision>
  <dcterms:created xsi:type="dcterms:W3CDTF">2026-10-01T00:20:19Z</dcterms:created>
  <dcterms:modified xsi:type="dcterms:W3CDTF">2026-10-01T00:20:19Z</dcterms:modified>
</cp:coreProperties>
</file>